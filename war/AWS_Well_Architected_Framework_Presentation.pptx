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8" r:id="rId2"/>
    <p:sldId id="259" r:id="rId3"/>
    <p:sldId id="260" r:id="rId4"/>
    <p:sldId id="262" r:id="rId5"/>
    <p:sldId id="263" r:id="rId6"/>
    <p:sldId id="265" r:id="rId7"/>
    <p:sldId id="266" r:id="rId8"/>
    <p:sldId id="268" r:id="rId9"/>
    <p:sldId id="269" r:id="rId10"/>
    <p:sldId id="271" r:id="rId11"/>
    <p:sldId id="272" r:id="rId12"/>
    <p:sldId id="274" r:id="rId13"/>
    <p:sldId id="275" r:id="rId14"/>
    <p:sldId id="276" r:id="rId15"/>
    <p:sldId id="278" r:id="rId16"/>
    <p:sldId id="279"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161" autoAdjust="0"/>
  </p:normalViewPr>
  <p:slideViewPr>
    <p:cSldViewPr snapToGrid="0" snapToObjects="1">
      <p:cViewPr varScale="1">
        <p:scale>
          <a:sx n="52" d="100"/>
          <a:sy n="52" d="100"/>
        </p:scale>
        <p:origin x="2338"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48A2D0-3083-4A64-88EE-68E83C00D4DB}" type="datetimeFigureOut">
              <a:rPr lang="en-IN" smtClean="0"/>
              <a:t>16-02-2026</a:t>
            </a:fld>
            <a:endParaRPr lang="en-I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D58701-C990-43AC-AE58-68A81D7232BC}" type="slidenum">
              <a:rPr lang="en-IN" smtClean="0"/>
              <a:t>‹#›</a:t>
            </a:fld>
            <a:endParaRPr lang="en-IN"/>
          </a:p>
        </p:txBody>
      </p:sp>
    </p:spTree>
    <p:extLst>
      <p:ext uri="{BB962C8B-B14F-4D97-AF65-F5344CB8AC3E}">
        <p14:creationId xmlns:p14="http://schemas.microsoft.com/office/powerpoint/2010/main" val="1544022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docs.aws.amazon.com/wellarchitected/latest/reliability-pillar/manage-service-quotas-and-constraints.html"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effectLst/>
              </a:rPr>
              <a:t>Best practices are </a:t>
            </a:r>
          </a:p>
          <a:p>
            <a:r>
              <a:rPr lang="en-IN" dirty="0"/>
              <a:t>proven, techniques or methods widely </a:t>
            </a:r>
            <a:r>
              <a:rPr lang="en-IN"/>
              <a:t>accepted to </a:t>
            </a:r>
            <a:r>
              <a:rPr lang="en-IN" dirty="0"/>
              <a:t>produce optimal results, efficiency, and consistency</a:t>
            </a:r>
          </a:p>
        </p:txBody>
      </p:sp>
      <p:sp>
        <p:nvSpPr>
          <p:cNvPr id="4" name="Slide Number Placeholder 3"/>
          <p:cNvSpPr>
            <a:spLocks noGrp="1"/>
          </p:cNvSpPr>
          <p:nvPr>
            <p:ph type="sldNum" sz="quarter" idx="5"/>
          </p:nvPr>
        </p:nvSpPr>
        <p:spPr/>
        <p:txBody>
          <a:bodyPr/>
          <a:lstStyle/>
          <a:p>
            <a:fld id="{66D58701-C990-43AC-AE58-68A81D7232BC}" type="slidenum">
              <a:rPr lang="en-IN" smtClean="0"/>
              <a:t>1</a:t>
            </a:fld>
            <a:endParaRPr lang="en-IN"/>
          </a:p>
        </p:txBody>
      </p:sp>
    </p:spTree>
    <p:extLst>
      <p:ext uri="{BB962C8B-B14F-4D97-AF65-F5344CB8AC3E}">
        <p14:creationId xmlns:p14="http://schemas.microsoft.com/office/powerpoint/2010/main" val="3540699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The operational excellence pillar contains best practices for organizing your team, designing your workload, operating it at scale, and evolving it over time.</a:t>
            </a:r>
          </a:p>
          <a:p>
            <a:r>
              <a:rPr lang="en-IN" dirty="0"/>
              <a:t>The goal of operational excellence is to get new features and bug fixes into customers’ hands quickly and reliably. Organizations that invest in operational excellence consistently delight customers while building new features, making changes, and dealing with failures. Along the way, operational excellence drives towards continuous integration and continuous delivery (CI/CD) by helping developers achieve high quality results consistently. </a:t>
            </a:r>
          </a:p>
          <a:p>
            <a:r>
              <a:rPr lang="en-IN" b="1" dirty="0"/>
              <a:t>Organize teams around business outcomes:</a:t>
            </a:r>
            <a:r>
              <a:rPr lang="en-IN" dirty="0"/>
              <a:t> The ability of a team to achieve business outcomes comes from leadership vision, effective operations, and a business-aligned operating model. Leadership should be fully invested and committed to a </a:t>
            </a:r>
            <a:r>
              <a:rPr lang="en-IN" dirty="0" err="1"/>
              <a:t>CloudOps</a:t>
            </a:r>
            <a:r>
              <a:rPr lang="en-IN" dirty="0"/>
              <a:t> transformation with a suitable cloud operating model that incentivizes teams to operate in the most efficient way and meet business outcomes. The right operating model uses people, process, and technology capabilities to scale, optimize for productivity, and differentiate through agility, responsiveness, and adaptation. The organization's long-term vision is translated into goals that are communicated across the enterprise to stakeholders and consumers of your cloud services. Goals and operational KPIs are aligned at all levels. This practice sustains the long-term value derived from implementing the following design principles.</a:t>
            </a:r>
          </a:p>
          <a:p>
            <a:r>
              <a:rPr lang="en-IN" b="1" dirty="0"/>
              <a:t>Implement observability for actionable insights:</a:t>
            </a:r>
            <a:r>
              <a:rPr lang="en-IN" dirty="0"/>
              <a:t> Gain a comprehensive understanding of workload </a:t>
            </a:r>
            <a:r>
              <a:rPr lang="en-IN" dirty="0" err="1"/>
              <a:t>behavior</a:t>
            </a:r>
            <a:r>
              <a:rPr lang="en-IN" dirty="0"/>
              <a:t>, performance, reliability, cost, and health. Establish key performance indicators (KPIs) and leverage observability telemetry to make informed decisions and take prompt action when business outcomes are at risk. Proactively improve performance, reliability, and cost based on actionable observability data. </a:t>
            </a:r>
          </a:p>
          <a:p>
            <a:r>
              <a:rPr lang="en-IN" b="1" dirty="0"/>
              <a:t>Safely automate where possible:</a:t>
            </a:r>
            <a:r>
              <a:rPr lang="en-IN" dirty="0"/>
              <a:t> In the cloud, you can apply the same engineering discipline that you use for application code to your entire environment. You can define your entire workload and its operations (applications, infrastructure, configuration, and procedures) as code, and update it. You can then automate your workload’s operations by initiating them in response to events. In the cloud, you can employ automation safety by configuring guardrails, including rate control, error thresholds, and approvals. Through effective automation, you can achieve consistent responses to events, limit human error, and reduce operator toil. </a:t>
            </a:r>
          </a:p>
          <a:p>
            <a:r>
              <a:rPr lang="en-IN" b="1" dirty="0"/>
              <a:t>Make frequent, small, reversible changes:</a:t>
            </a:r>
            <a:r>
              <a:rPr lang="en-IN" dirty="0"/>
              <a:t> Design workloads that are scalable and loosely coupled to permit components to be updated regularly. Automated deployment techniques together with smaller, incremental changes reduces the blast radius and allows for faster reversal when failures occur. This increases confidence to deliver beneficial changes to your workload while maintaining quality and adapting quickly to changes in market conditions.</a:t>
            </a:r>
          </a:p>
          <a:p>
            <a:r>
              <a:rPr lang="en-IN" b="1" dirty="0"/>
              <a:t>Refine operations procedures frequently:</a:t>
            </a:r>
            <a:r>
              <a:rPr lang="en-IN" dirty="0"/>
              <a:t> As you evolve your workloads, evolve your operations appropriately. As you use operations procedures, look for opportunities to improve them. Hold regular reviews and validate that all procedures are effective and that teams are familiar with them. Where gaps are identified, update procedures accordingly. Communicate procedural updates to all stakeholders and teams. Gamify your operations to share best practices and educate teams.</a:t>
            </a:r>
          </a:p>
          <a:p>
            <a:r>
              <a:rPr lang="en-IN" b="1" dirty="0"/>
              <a:t>Anticipate failure:</a:t>
            </a:r>
            <a:r>
              <a:rPr lang="en-IN" dirty="0"/>
              <a:t> Maximize operational success by driving failure scenarios to understand the workload’s risk profile and its impact on your business outcomes. Test the effectiveness of your procedures and your team’s response against these simulated failures. Make informed decisions to manage open risks that are identified by your testing.</a:t>
            </a:r>
          </a:p>
          <a:p>
            <a:r>
              <a:rPr lang="en-IN" b="1" dirty="0"/>
              <a:t>Learn from all operational events and metrics:</a:t>
            </a:r>
            <a:r>
              <a:rPr lang="en-IN" dirty="0"/>
              <a:t> Drive improvement through lessons learned from all operational events and failures. Share what is learned across teams and through the entire organization. Learnings should highlight data and anecdotes on how operations contribute to business outcomes.</a:t>
            </a:r>
          </a:p>
          <a:p>
            <a:endParaRPr lang="en-IN" dirty="0"/>
          </a:p>
        </p:txBody>
      </p:sp>
      <p:sp>
        <p:nvSpPr>
          <p:cNvPr id="4" name="Slide Number Placeholder 3"/>
          <p:cNvSpPr>
            <a:spLocks noGrp="1"/>
          </p:cNvSpPr>
          <p:nvPr>
            <p:ph type="sldNum" sz="quarter" idx="5"/>
          </p:nvPr>
        </p:nvSpPr>
        <p:spPr/>
        <p:txBody>
          <a:bodyPr/>
          <a:lstStyle/>
          <a:p>
            <a:fld id="{66D58701-C990-43AC-AE58-68A81D7232BC}" type="slidenum">
              <a:rPr lang="en-IN" smtClean="0"/>
              <a:t>3</a:t>
            </a:fld>
            <a:endParaRPr lang="en-IN"/>
          </a:p>
        </p:txBody>
      </p:sp>
    </p:spTree>
    <p:extLst>
      <p:ext uri="{BB962C8B-B14F-4D97-AF65-F5344CB8AC3E}">
        <p14:creationId xmlns:p14="http://schemas.microsoft.com/office/powerpoint/2010/main" val="688755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b="1" dirty="0"/>
              <a:t>Implement a strong identity foundation:</a:t>
            </a:r>
            <a:r>
              <a:rPr lang="en-IN" dirty="0"/>
              <a:t> Implement the principle of least privilege and enforce separation of duties with appropriate authorization for each interaction with your AWS resources. Centralize identity management, and aim to eliminate reliance on long-term static credentials.</a:t>
            </a:r>
          </a:p>
          <a:p>
            <a:r>
              <a:rPr lang="en-IN" b="1" dirty="0"/>
              <a:t>Maintain traceability:</a:t>
            </a:r>
            <a:r>
              <a:rPr lang="en-IN" dirty="0"/>
              <a:t> Monitor, alert, and audit actions and changes to your environment in real time. Integrate log and metric collection with systems to automatically investigate and take action.</a:t>
            </a:r>
          </a:p>
          <a:p>
            <a:r>
              <a:rPr lang="en-IN" b="1" dirty="0"/>
              <a:t>Apply security at all layers:</a:t>
            </a:r>
            <a:r>
              <a:rPr lang="en-IN" dirty="0"/>
              <a:t> Apply a </a:t>
            </a:r>
            <a:r>
              <a:rPr lang="en-IN" dirty="0" err="1"/>
              <a:t>defense</a:t>
            </a:r>
            <a:r>
              <a:rPr lang="en-IN" dirty="0"/>
              <a:t> in depth approach with multiple security controls. Apply to all layers (for example, edge of network, VPC, load balancing, every instance and compute service, operating system, application, and code).</a:t>
            </a:r>
          </a:p>
          <a:p>
            <a:r>
              <a:rPr lang="en-IN" b="1" dirty="0"/>
              <a:t>Automate security best practices:</a:t>
            </a:r>
            <a:r>
              <a:rPr lang="en-IN" dirty="0"/>
              <a:t> Automated software-based security mechanisms improve your ability to securely scale more rapidly and cost-effectively. Create secure architectures, including the implementation of controls that are defined and managed as code in version-controlled templates.</a:t>
            </a:r>
          </a:p>
          <a:p>
            <a:r>
              <a:rPr lang="en-IN" b="1" dirty="0"/>
              <a:t>Protect data in transit and at rest</a:t>
            </a:r>
            <a:r>
              <a:rPr lang="en-IN" dirty="0"/>
              <a:t>: Classify your data into sensitivity levels and use mechanisms, such as encryption, tokenization, and access control where appropriate.</a:t>
            </a:r>
          </a:p>
          <a:p>
            <a:r>
              <a:rPr lang="en-IN" b="1" dirty="0"/>
              <a:t>Keep people away from data:</a:t>
            </a:r>
            <a:r>
              <a:rPr lang="en-IN" dirty="0"/>
              <a:t> Use mechanisms and tools to reduce or eliminate the need for direct access or manual processing of data. This reduces the risk of mishandling or modification and human error when handling sensitive data.</a:t>
            </a:r>
          </a:p>
          <a:p>
            <a:r>
              <a:rPr lang="en-IN" b="1" dirty="0"/>
              <a:t>Prepare for security events:</a:t>
            </a:r>
            <a:r>
              <a:rPr lang="en-IN" dirty="0"/>
              <a:t> Prepare for an incident by having incident management and investigation policy and processes that align to your organizational requirements. Run incident response simulations and use tools with automation to increase your speed for detection, investigation, and recovery.</a:t>
            </a:r>
          </a:p>
          <a:p>
            <a:endParaRPr lang="en-IN" dirty="0"/>
          </a:p>
        </p:txBody>
      </p:sp>
      <p:sp>
        <p:nvSpPr>
          <p:cNvPr id="4" name="Slide Number Placeholder 3"/>
          <p:cNvSpPr>
            <a:spLocks noGrp="1"/>
          </p:cNvSpPr>
          <p:nvPr>
            <p:ph type="sldNum" sz="quarter" idx="5"/>
          </p:nvPr>
        </p:nvSpPr>
        <p:spPr/>
        <p:txBody>
          <a:bodyPr/>
          <a:lstStyle/>
          <a:p>
            <a:fld id="{66D58701-C990-43AC-AE58-68A81D7232BC}" type="slidenum">
              <a:rPr lang="en-IN" smtClean="0"/>
              <a:t>5</a:t>
            </a:fld>
            <a:endParaRPr lang="en-IN"/>
          </a:p>
        </p:txBody>
      </p:sp>
    </p:spTree>
    <p:extLst>
      <p:ext uri="{BB962C8B-B14F-4D97-AF65-F5344CB8AC3E}">
        <p14:creationId xmlns:p14="http://schemas.microsoft.com/office/powerpoint/2010/main" val="25511888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b="1" dirty="0"/>
              <a:t>Automatically recover from failure:</a:t>
            </a:r>
            <a:r>
              <a:rPr lang="en-IN" dirty="0"/>
              <a:t> By monitoring a workload for key performance indicators (KPIs), you can run automation when a threshold is breached. These KPIs should be a measure of business value, not of the technical aspects of the operation of the service. This allows for automatic notification and tracking of failures, and for automated recovery processes that work around or repair the failure. With more sophisticated automation, it’s possible to anticipate and remediate failures before they occur. </a:t>
            </a:r>
          </a:p>
          <a:p>
            <a:r>
              <a:rPr lang="en-IN" b="1" dirty="0"/>
              <a:t>Test recovery procedures:</a:t>
            </a:r>
            <a:r>
              <a:rPr lang="en-IN" dirty="0"/>
              <a:t> In an on-premises environment, testing is often conducted to prove that the workload works in a particular scenario. Testing is not typically used to validate recovery strategies. In the cloud, you can test how your workload fails, and you can validate your recovery procedures. You can use automation to simulate different failures or to recreate scenarios that led to failures before. This approach exposes failure pathways that you can test and fix </a:t>
            </a:r>
            <a:r>
              <a:rPr lang="en-IN" i="1" dirty="0"/>
              <a:t>before</a:t>
            </a:r>
            <a:r>
              <a:rPr lang="en-IN" dirty="0"/>
              <a:t> a real failure scenario occurs, thus reducing risk. </a:t>
            </a:r>
          </a:p>
          <a:p>
            <a:r>
              <a:rPr lang="en-IN" b="1" dirty="0"/>
              <a:t>Scale horizontally to increase aggregate workload availability:</a:t>
            </a:r>
            <a:r>
              <a:rPr lang="en-IN" dirty="0"/>
              <a:t> Replace one large resource with multiple small resources to reduce the impact of a single failure on the overall workload. Distribute requests across multiple, smaller resources to ensure that they don’t share a common point of failure. </a:t>
            </a:r>
          </a:p>
          <a:p>
            <a:r>
              <a:rPr lang="en-IN" b="1" dirty="0"/>
              <a:t>Stop guessing capacity:</a:t>
            </a:r>
            <a:r>
              <a:rPr lang="en-IN" dirty="0"/>
              <a:t> A common cause of failure in on-premises workloads is resource saturation, when the demands placed on a workload exceed the capacity of that workload (this is often the objective of denial of service attacks). In the cloud, you can monitor demand and workload utilization, and automate the addition or removal of resources to maintain the optimal level to satisfy demand without over- or under-provisioning. There are still limits, but some quotas can be controlled and others can be managed (see </a:t>
            </a:r>
            <a:r>
              <a:rPr lang="en-IN" dirty="0">
                <a:hlinkClick r:id="rId3"/>
              </a:rPr>
              <a:t>Manage Service Quotas and Constraints</a:t>
            </a:r>
            <a:r>
              <a:rPr lang="en-IN" dirty="0"/>
              <a:t>). </a:t>
            </a:r>
          </a:p>
          <a:p>
            <a:r>
              <a:rPr lang="en-IN" b="1" dirty="0"/>
              <a:t>Manage change through automation</a:t>
            </a:r>
            <a:r>
              <a:rPr lang="en-IN" dirty="0"/>
              <a:t>: Changes to your infrastructure should be made using automation. The changes that need to be managed include changes to the automation, which then can be tracked and reviewed. </a:t>
            </a:r>
          </a:p>
          <a:p>
            <a:endParaRPr lang="en-IN" dirty="0"/>
          </a:p>
        </p:txBody>
      </p:sp>
      <p:sp>
        <p:nvSpPr>
          <p:cNvPr id="4" name="Slide Number Placeholder 3"/>
          <p:cNvSpPr>
            <a:spLocks noGrp="1"/>
          </p:cNvSpPr>
          <p:nvPr>
            <p:ph type="sldNum" sz="quarter" idx="5"/>
          </p:nvPr>
        </p:nvSpPr>
        <p:spPr/>
        <p:txBody>
          <a:bodyPr/>
          <a:lstStyle/>
          <a:p>
            <a:fld id="{66D58701-C990-43AC-AE58-68A81D7232BC}" type="slidenum">
              <a:rPr lang="en-IN" smtClean="0"/>
              <a:t>7</a:t>
            </a:fld>
            <a:endParaRPr lang="en-IN"/>
          </a:p>
        </p:txBody>
      </p:sp>
    </p:spTree>
    <p:extLst>
      <p:ext uri="{BB962C8B-B14F-4D97-AF65-F5344CB8AC3E}">
        <p14:creationId xmlns:p14="http://schemas.microsoft.com/office/powerpoint/2010/main" val="28470691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b="1" dirty="0"/>
              <a:t>Democratize advanced technologies:</a:t>
            </a:r>
            <a:r>
              <a:rPr lang="en-IN" dirty="0"/>
              <a:t> Make advanced technology implementation easier for your team by delegating complex tasks to your cloud vendor. Rather than asking your IT team to learn about hosting and running a new technology, consider consuming the technology as a service. For example, NoSQL databases, media transcoding, and machine learning are all technologies that require specialized expertise. In the cloud, these technologies become services that your team can consume, allowing your team to focus on product development rather than resource provisioning and management. </a:t>
            </a:r>
          </a:p>
          <a:p>
            <a:r>
              <a:rPr lang="en-IN" b="1" dirty="0"/>
              <a:t>Go global in minutes:</a:t>
            </a:r>
            <a:r>
              <a:rPr lang="en-IN" dirty="0"/>
              <a:t> Deploying your workload in multiple AWS Regions around the world allows you to provide lower latency and a better experience for your customers at minimal cost. </a:t>
            </a:r>
          </a:p>
          <a:p>
            <a:r>
              <a:rPr lang="en-IN" b="1" dirty="0"/>
              <a:t>Use serverless architectures:</a:t>
            </a:r>
            <a:r>
              <a:rPr lang="en-IN" dirty="0"/>
              <a:t> Serverless architectures remove the need for you to run and maintain physical servers for traditional compute activities. For example, serverless storage services can act as static websites (removing the need for web servers) and event services can host code. This removes the operational burden of managing physical servers, and can lower transactional costs because managed services operate at cloud scale. </a:t>
            </a:r>
          </a:p>
          <a:p>
            <a:r>
              <a:rPr lang="en-IN" b="1" dirty="0"/>
              <a:t>Experiment more often:</a:t>
            </a:r>
            <a:r>
              <a:rPr lang="en-IN" dirty="0"/>
              <a:t> With virtual and automatable resources, you can quickly carry out comparative testing using different types of instances, storage, or configurations. </a:t>
            </a:r>
          </a:p>
          <a:p>
            <a:r>
              <a:rPr lang="en-IN" b="1" dirty="0"/>
              <a:t>Consider mechanical sympathy:</a:t>
            </a:r>
            <a:r>
              <a:rPr lang="en-IN" dirty="0"/>
              <a:t> Use the technology approach that aligns best with your goals. For example, consider data access patterns when you select database or storage for your workload. </a:t>
            </a:r>
          </a:p>
          <a:p>
            <a:endParaRPr lang="en-IN" dirty="0"/>
          </a:p>
        </p:txBody>
      </p:sp>
      <p:sp>
        <p:nvSpPr>
          <p:cNvPr id="4" name="Slide Number Placeholder 3"/>
          <p:cNvSpPr>
            <a:spLocks noGrp="1"/>
          </p:cNvSpPr>
          <p:nvPr>
            <p:ph type="sldNum" sz="quarter" idx="5"/>
          </p:nvPr>
        </p:nvSpPr>
        <p:spPr/>
        <p:txBody>
          <a:bodyPr/>
          <a:lstStyle/>
          <a:p>
            <a:fld id="{66D58701-C990-43AC-AE58-68A81D7232BC}" type="slidenum">
              <a:rPr lang="en-IN" smtClean="0"/>
              <a:t>9</a:t>
            </a:fld>
            <a:endParaRPr lang="en-IN"/>
          </a:p>
        </p:txBody>
      </p:sp>
    </p:spTree>
    <p:extLst>
      <p:ext uri="{BB962C8B-B14F-4D97-AF65-F5344CB8AC3E}">
        <p14:creationId xmlns:p14="http://schemas.microsoft.com/office/powerpoint/2010/main" val="2774807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b="1" dirty="0"/>
              <a:t>Implement cloud financial management:</a:t>
            </a:r>
            <a:r>
              <a:rPr lang="en-IN" dirty="0"/>
              <a:t> To achieve financial success and accelerate business value realization in the cloud, you must invest in Cloud Financial Management. Your organization must dedicate the necessary time and resources for building capability in this new domain of technology and usage management. Similar to your Security or Operations capability, you need to build capability through knowledge building, programs, resources, and processes to help you become a cost efficient organization. </a:t>
            </a:r>
          </a:p>
          <a:p>
            <a:r>
              <a:rPr lang="en-IN" b="1" dirty="0"/>
              <a:t>Adopt a consumption model:</a:t>
            </a:r>
            <a:r>
              <a:rPr lang="en-IN" dirty="0"/>
              <a:t> Pay only for the computing resources you consume, and increase or decrease usage depending on business requirements. For example, development and test environments are typically only used for eight hours a day during the work week. You can stop these resources when they’re not in use for a potential cost savings of 75% (40 hours versus 168 hours). </a:t>
            </a:r>
          </a:p>
          <a:p>
            <a:r>
              <a:rPr lang="en-IN" b="1" dirty="0"/>
              <a:t>Measure overall efficiency:</a:t>
            </a:r>
            <a:r>
              <a:rPr lang="en-IN" dirty="0"/>
              <a:t> Measure the business output of the workload and the costs associated with delivery. Use this data to understand the gains you make from increasing output, increasing functionality, and reducing cost. </a:t>
            </a:r>
          </a:p>
          <a:p>
            <a:r>
              <a:rPr lang="en-IN" b="1" dirty="0"/>
              <a:t>Stop spending money on undifferentiated heavy lifting:</a:t>
            </a:r>
            <a:r>
              <a:rPr lang="en-IN" dirty="0"/>
              <a:t> AWS does the heavy lifting of data center operations like racking, stacking, and powering servers. It also removes the operational burden of managing operating systems and applications with managed services. This allows you to focus on your customers and business projects rather than on IT infrastructure. </a:t>
            </a:r>
          </a:p>
          <a:p>
            <a:r>
              <a:rPr lang="en-IN" b="1" dirty="0" err="1"/>
              <a:t>Analyze</a:t>
            </a:r>
            <a:r>
              <a:rPr lang="en-IN" b="1" dirty="0"/>
              <a:t> and attribute expenditure:</a:t>
            </a:r>
            <a:r>
              <a:rPr lang="en-IN" dirty="0"/>
              <a:t> The cloud makes it easier to accurately identify the cost and usage of workloads, which then allows transparent attribution of IT costs to revenue streams and individual workload owners. This helps measure return on investment (ROI) and gives workload owners an opportunity to optimize their resources and reduce costs. </a:t>
            </a:r>
          </a:p>
          <a:p>
            <a:endParaRPr lang="en-IN" dirty="0"/>
          </a:p>
        </p:txBody>
      </p:sp>
      <p:sp>
        <p:nvSpPr>
          <p:cNvPr id="4" name="Slide Number Placeholder 3"/>
          <p:cNvSpPr>
            <a:spLocks noGrp="1"/>
          </p:cNvSpPr>
          <p:nvPr>
            <p:ph type="sldNum" sz="quarter" idx="5"/>
          </p:nvPr>
        </p:nvSpPr>
        <p:spPr/>
        <p:txBody>
          <a:bodyPr/>
          <a:lstStyle/>
          <a:p>
            <a:fld id="{66D58701-C990-43AC-AE58-68A81D7232BC}" type="slidenum">
              <a:rPr lang="en-IN" smtClean="0"/>
              <a:t>11</a:t>
            </a:fld>
            <a:endParaRPr lang="en-IN"/>
          </a:p>
        </p:txBody>
      </p:sp>
    </p:spTree>
    <p:extLst>
      <p:ext uri="{BB962C8B-B14F-4D97-AF65-F5344CB8AC3E}">
        <p14:creationId xmlns:p14="http://schemas.microsoft.com/office/powerpoint/2010/main" val="883355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What is AWS Well-Architected Framework?</a:t>
            </a:r>
          </a:p>
        </p:txBody>
      </p:sp>
      <p:sp>
        <p:nvSpPr>
          <p:cNvPr id="3" name="Content Placeholder 2"/>
          <p:cNvSpPr>
            <a:spLocks noGrp="1"/>
          </p:cNvSpPr>
          <p:nvPr>
            <p:ph idx="1"/>
          </p:nvPr>
        </p:nvSpPr>
        <p:spPr/>
        <p:txBody>
          <a:bodyPr/>
          <a:lstStyle/>
          <a:p>
            <a:endParaRPr/>
          </a:p>
          <a:p>
            <a:r>
              <a:t>Helps build secure, high-performing, resilient workloads</a:t>
            </a:r>
          </a:p>
          <a:p>
            <a:r>
              <a:t>Provides best practices and review methodology</a:t>
            </a:r>
          </a:p>
          <a:p>
            <a:r>
              <a:t>Aligns cloud architecture with business goals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6 Pillars</a:t>
            </a:r>
          </a:p>
        </p:txBody>
      </p:sp>
      <p:sp>
        <p:nvSpPr>
          <p:cNvPr id="3" name="Content Placeholder 2"/>
          <p:cNvSpPr>
            <a:spLocks noGrp="1"/>
          </p:cNvSpPr>
          <p:nvPr>
            <p:ph idx="1"/>
          </p:nvPr>
        </p:nvSpPr>
        <p:spPr/>
        <p:txBody>
          <a:bodyPr/>
          <a:lstStyle/>
          <a:p>
            <a:endParaRPr/>
          </a:p>
          <a:p>
            <a:r>
              <a:t>Operational Excellence</a:t>
            </a:r>
          </a:p>
          <a:p>
            <a:r>
              <a:t>Security</a:t>
            </a:r>
          </a:p>
          <a:p>
            <a:r>
              <a:t>Reliability</a:t>
            </a:r>
          </a:p>
          <a:p>
            <a:r>
              <a:t>Performance Efficiency</a:t>
            </a:r>
          </a:p>
          <a:p>
            <a:r>
              <a:t>Cost Optimization</a:t>
            </a:r>
          </a:p>
          <a:p>
            <a:r>
              <a:t>Sustainability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79104"/>
            <a:ext cx="8229600" cy="1143000"/>
          </a:xfrm>
        </p:spPr>
        <p:txBody>
          <a:bodyPr/>
          <a:lstStyle/>
          <a:p>
            <a:r>
              <a:rPr dirty="0"/>
              <a:t>Operational Excellence</a:t>
            </a:r>
          </a:p>
        </p:txBody>
      </p:sp>
      <p:sp>
        <p:nvSpPr>
          <p:cNvPr id="3" name="Content Placeholder 2"/>
          <p:cNvSpPr>
            <a:spLocks noGrp="1"/>
          </p:cNvSpPr>
          <p:nvPr>
            <p:ph idx="1"/>
          </p:nvPr>
        </p:nvSpPr>
        <p:spPr>
          <a:xfrm>
            <a:off x="266131" y="1166018"/>
            <a:ext cx="8618562" cy="5275725"/>
          </a:xfrm>
        </p:spPr>
        <p:txBody>
          <a:bodyPr>
            <a:normAutofit fontScale="92500" lnSpcReduction="10000"/>
          </a:bodyPr>
          <a:lstStyle/>
          <a:p>
            <a:endParaRPr dirty="0"/>
          </a:p>
          <a:p>
            <a:r>
              <a:rPr lang="en-IN" dirty="0"/>
              <a:t>Operational excellence (OE) is a commitment to build software correctly while consistently delivering a great customer experience.</a:t>
            </a:r>
          </a:p>
          <a:p>
            <a:pPr lvl="1"/>
            <a:r>
              <a:rPr lang="en-IN" b="1" dirty="0"/>
              <a:t>Organize teams around business outcomes</a:t>
            </a:r>
          </a:p>
          <a:p>
            <a:pPr lvl="1"/>
            <a:r>
              <a:rPr lang="en-IN" b="1" dirty="0"/>
              <a:t>Implement observability for actionable insights</a:t>
            </a:r>
          </a:p>
          <a:p>
            <a:pPr lvl="1"/>
            <a:r>
              <a:rPr lang="en-IN" b="1" dirty="0"/>
              <a:t>Safely automate where possible</a:t>
            </a:r>
          </a:p>
          <a:p>
            <a:pPr lvl="1"/>
            <a:r>
              <a:rPr lang="en-IN" b="1" dirty="0"/>
              <a:t>Make frequent, small, reversible changes</a:t>
            </a:r>
          </a:p>
          <a:p>
            <a:pPr lvl="1"/>
            <a:r>
              <a:rPr lang="en-IN" b="1" dirty="0"/>
              <a:t>Refine operations procedures frequently</a:t>
            </a:r>
          </a:p>
          <a:p>
            <a:pPr lvl="1"/>
            <a:r>
              <a:rPr lang="en-IN" b="1" dirty="0"/>
              <a:t>Anticipate failure</a:t>
            </a:r>
          </a:p>
          <a:p>
            <a:pPr lvl="1"/>
            <a:r>
              <a:rPr lang="en-IN" b="1" dirty="0"/>
              <a:t>Learn from all operational events and metrics</a:t>
            </a:r>
            <a:endParaRPr lang="en-I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Operational Excellence – Key Services</a:t>
            </a:r>
          </a:p>
        </p:txBody>
      </p:sp>
      <p:sp>
        <p:nvSpPr>
          <p:cNvPr id="3" name="Content Placeholder 2"/>
          <p:cNvSpPr>
            <a:spLocks noGrp="1"/>
          </p:cNvSpPr>
          <p:nvPr>
            <p:ph idx="1"/>
          </p:nvPr>
        </p:nvSpPr>
        <p:spPr/>
        <p:txBody>
          <a:bodyPr/>
          <a:lstStyle/>
          <a:p>
            <a:endParaRPr/>
          </a:p>
          <a:p>
            <a:r>
              <a:t>AWS CloudFormation</a:t>
            </a:r>
          </a:p>
          <a:p>
            <a:r>
              <a:t>AWS CDK</a:t>
            </a:r>
          </a:p>
          <a:p>
            <a:r>
              <a:t>Amazon CloudWatch</a:t>
            </a:r>
          </a:p>
          <a:p>
            <a:r>
              <a:t>AWS CloudTrail</a:t>
            </a:r>
          </a:p>
          <a:p>
            <a:r>
              <a:t>AWS CodePipeline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42626"/>
            <a:ext cx="8229600" cy="1143000"/>
          </a:xfrm>
        </p:spPr>
        <p:txBody>
          <a:bodyPr/>
          <a:lstStyle/>
          <a:p>
            <a:r>
              <a:rPr dirty="0"/>
              <a:t>Security</a:t>
            </a:r>
          </a:p>
        </p:txBody>
      </p:sp>
      <p:sp>
        <p:nvSpPr>
          <p:cNvPr id="3" name="Content Placeholder 2"/>
          <p:cNvSpPr>
            <a:spLocks noGrp="1"/>
          </p:cNvSpPr>
          <p:nvPr>
            <p:ph idx="1"/>
          </p:nvPr>
        </p:nvSpPr>
        <p:spPr>
          <a:xfrm>
            <a:off x="457200" y="1185626"/>
            <a:ext cx="8229600" cy="4940537"/>
          </a:xfrm>
        </p:spPr>
        <p:txBody>
          <a:bodyPr>
            <a:normAutofit fontScale="92500" lnSpcReduction="10000"/>
          </a:bodyPr>
          <a:lstStyle/>
          <a:p>
            <a:endParaRPr dirty="0"/>
          </a:p>
          <a:p>
            <a:r>
              <a:rPr lang="en-IN" dirty="0"/>
              <a:t>Security provides guidance to help you apply best practices, current recommendations in the design, delivery, and maintenance of secure AWS workloads.</a:t>
            </a:r>
          </a:p>
          <a:p>
            <a:pPr lvl="1"/>
            <a:r>
              <a:rPr lang="en-IN" b="1" dirty="0"/>
              <a:t>Implement a strong identity foundation</a:t>
            </a:r>
          </a:p>
          <a:p>
            <a:pPr lvl="1"/>
            <a:r>
              <a:rPr lang="en-IN" b="1" dirty="0"/>
              <a:t>Maintain traceability</a:t>
            </a:r>
          </a:p>
          <a:p>
            <a:pPr lvl="1"/>
            <a:r>
              <a:rPr lang="en-IN" b="1" dirty="0"/>
              <a:t>Apply security at all layers</a:t>
            </a:r>
          </a:p>
          <a:p>
            <a:pPr lvl="1"/>
            <a:r>
              <a:rPr lang="en-IN" b="1" dirty="0"/>
              <a:t>Automate security best practices</a:t>
            </a:r>
          </a:p>
          <a:p>
            <a:pPr lvl="1"/>
            <a:r>
              <a:rPr lang="en-IN" b="1" dirty="0"/>
              <a:t>Protect data in transit and at rest</a:t>
            </a:r>
          </a:p>
          <a:p>
            <a:pPr lvl="1"/>
            <a:r>
              <a:rPr lang="en-IN" b="1" dirty="0"/>
              <a:t>Keep people away from data</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Security – Key Services</a:t>
            </a:r>
          </a:p>
        </p:txBody>
      </p:sp>
      <p:sp>
        <p:nvSpPr>
          <p:cNvPr id="3" name="Content Placeholder 2"/>
          <p:cNvSpPr>
            <a:spLocks noGrp="1"/>
          </p:cNvSpPr>
          <p:nvPr>
            <p:ph idx="1"/>
          </p:nvPr>
        </p:nvSpPr>
        <p:spPr/>
        <p:txBody>
          <a:bodyPr/>
          <a:lstStyle/>
          <a:p>
            <a:endParaRPr/>
          </a:p>
          <a:p>
            <a:r>
              <a:t>AWS IAM</a:t>
            </a:r>
          </a:p>
          <a:p>
            <a:r>
              <a:t>AWS KMS</a:t>
            </a:r>
          </a:p>
          <a:p>
            <a:r>
              <a:t>Amazon GuardDuty</a:t>
            </a:r>
          </a:p>
          <a:p>
            <a:r>
              <a:t>AWS Security Hub</a:t>
            </a:r>
          </a:p>
          <a:p>
            <a:r>
              <a:t>Amazon S3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Reliability</a:t>
            </a:r>
          </a:p>
        </p:txBody>
      </p:sp>
      <p:sp>
        <p:nvSpPr>
          <p:cNvPr id="3" name="Content Placeholder 2"/>
          <p:cNvSpPr>
            <a:spLocks noGrp="1"/>
          </p:cNvSpPr>
          <p:nvPr>
            <p:ph idx="1"/>
          </p:nvPr>
        </p:nvSpPr>
        <p:spPr/>
        <p:txBody>
          <a:bodyPr>
            <a:normAutofit fontScale="92500" lnSpcReduction="10000"/>
          </a:bodyPr>
          <a:lstStyle/>
          <a:p>
            <a:endParaRPr dirty="0"/>
          </a:p>
          <a:p>
            <a:r>
              <a:rPr lang="en-IN" dirty="0"/>
              <a:t>It provides guidance to help customers apply best practices in the design, delivery, and maintenance of Amazon Web Services (AWS) environments. </a:t>
            </a:r>
          </a:p>
          <a:p>
            <a:pPr lvl="1"/>
            <a:r>
              <a:rPr lang="en-IN" b="1" dirty="0"/>
              <a:t>Automatically recover from failure</a:t>
            </a:r>
          </a:p>
          <a:p>
            <a:pPr lvl="1"/>
            <a:r>
              <a:rPr lang="en-IN" b="1" dirty="0"/>
              <a:t>Test recovery procedures</a:t>
            </a:r>
          </a:p>
          <a:p>
            <a:pPr lvl="1"/>
            <a:r>
              <a:rPr lang="en-IN" b="1" dirty="0"/>
              <a:t>Scale horizontally to increase aggregate workload availability</a:t>
            </a:r>
          </a:p>
          <a:p>
            <a:pPr lvl="1"/>
            <a:r>
              <a:rPr lang="en-IN" b="1" dirty="0"/>
              <a:t>Stop guessing capacity</a:t>
            </a:r>
          </a:p>
          <a:p>
            <a:pPr lvl="1"/>
            <a:r>
              <a:rPr lang="en-IN" b="1" dirty="0"/>
              <a:t>Manage change through automation</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Reliability – Key Services</a:t>
            </a:r>
          </a:p>
        </p:txBody>
      </p:sp>
      <p:sp>
        <p:nvSpPr>
          <p:cNvPr id="3" name="Content Placeholder 2"/>
          <p:cNvSpPr>
            <a:spLocks noGrp="1"/>
          </p:cNvSpPr>
          <p:nvPr>
            <p:ph idx="1"/>
          </p:nvPr>
        </p:nvSpPr>
        <p:spPr/>
        <p:txBody>
          <a:bodyPr/>
          <a:lstStyle/>
          <a:p>
            <a:endParaRPr/>
          </a:p>
          <a:p>
            <a:r>
              <a:t>Amazon EC2</a:t>
            </a:r>
          </a:p>
          <a:p>
            <a:r>
              <a:t>Elastic Load Balancing</a:t>
            </a:r>
          </a:p>
          <a:p>
            <a:r>
              <a:t>Amazon RDS</a:t>
            </a:r>
          </a:p>
          <a:p>
            <a:r>
              <a:t>EC2 Auto Scaling</a:t>
            </a:r>
          </a:p>
          <a:p>
            <a:r>
              <a:t>AWS Backup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Performance Efficiency</a:t>
            </a:r>
          </a:p>
        </p:txBody>
      </p:sp>
      <p:sp>
        <p:nvSpPr>
          <p:cNvPr id="3" name="Content Placeholder 2"/>
          <p:cNvSpPr>
            <a:spLocks noGrp="1"/>
          </p:cNvSpPr>
          <p:nvPr>
            <p:ph idx="1"/>
          </p:nvPr>
        </p:nvSpPr>
        <p:spPr/>
        <p:txBody>
          <a:bodyPr>
            <a:normAutofit lnSpcReduction="10000"/>
          </a:bodyPr>
          <a:lstStyle/>
          <a:p>
            <a:endParaRPr dirty="0"/>
          </a:p>
          <a:p>
            <a:r>
              <a:rPr lang="en-IN" dirty="0"/>
              <a:t>It provides guidance to help customers apply best practices in the design, delivery, and maintenance of AWS environments. </a:t>
            </a:r>
          </a:p>
          <a:p>
            <a:pPr lvl="1"/>
            <a:r>
              <a:rPr lang="en-IN" b="1" dirty="0"/>
              <a:t>Democratize advanced technologies</a:t>
            </a:r>
          </a:p>
          <a:p>
            <a:pPr lvl="1"/>
            <a:r>
              <a:rPr lang="en-IN" b="1" dirty="0"/>
              <a:t>Go global in minutes</a:t>
            </a:r>
          </a:p>
          <a:p>
            <a:pPr lvl="1"/>
            <a:r>
              <a:rPr lang="en-IN" b="1" dirty="0"/>
              <a:t>Use serverless architectures</a:t>
            </a:r>
          </a:p>
          <a:p>
            <a:pPr lvl="1"/>
            <a:r>
              <a:rPr lang="en-IN" b="1" dirty="0"/>
              <a:t>Experiment more often</a:t>
            </a:r>
          </a:p>
          <a:p>
            <a:pPr lvl="1"/>
            <a:r>
              <a:rPr lang="en-IN" b="1" dirty="0"/>
              <a:t>Consider mechanical sympathy</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Performance – Key Services</a:t>
            </a:r>
          </a:p>
        </p:txBody>
      </p:sp>
      <p:sp>
        <p:nvSpPr>
          <p:cNvPr id="3" name="Content Placeholder 2"/>
          <p:cNvSpPr>
            <a:spLocks noGrp="1"/>
          </p:cNvSpPr>
          <p:nvPr>
            <p:ph idx="1"/>
          </p:nvPr>
        </p:nvSpPr>
        <p:spPr/>
        <p:txBody>
          <a:bodyPr/>
          <a:lstStyle/>
          <a:p>
            <a:endParaRPr/>
          </a:p>
          <a:p>
            <a:r>
              <a:t>AWS Lambda</a:t>
            </a:r>
          </a:p>
          <a:p>
            <a:r>
              <a:t>Amazon ECS</a:t>
            </a:r>
          </a:p>
          <a:p>
            <a:r>
              <a:t>Amazon CloudFront</a:t>
            </a:r>
          </a:p>
          <a:p>
            <a:r>
              <a:t>Amazon ElastiCache</a:t>
            </a:r>
          </a:p>
          <a:p>
            <a:r>
              <a:t>Amazon DynamoDB</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Cost Optimization</a:t>
            </a:r>
          </a:p>
        </p:txBody>
      </p:sp>
      <p:sp>
        <p:nvSpPr>
          <p:cNvPr id="3" name="Content Placeholder 2"/>
          <p:cNvSpPr>
            <a:spLocks noGrp="1"/>
          </p:cNvSpPr>
          <p:nvPr>
            <p:ph idx="1"/>
          </p:nvPr>
        </p:nvSpPr>
        <p:spPr/>
        <p:txBody>
          <a:bodyPr>
            <a:normAutofit fontScale="92500" lnSpcReduction="10000"/>
          </a:bodyPr>
          <a:lstStyle/>
          <a:p>
            <a:endParaRPr dirty="0"/>
          </a:p>
          <a:p>
            <a:r>
              <a:rPr lang="en-IN" dirty="0"/>
              <a:t>It provides guidance to help customers apply best practices in the design, delivery, and maintenance of AWS environments</a:t>
            </a:r>
          </a:p>
          <a:p>
            <a:pPr lvl="1"/>
            <a:r>
              <a:rPr lang="en-IN" b="1" dirty="0"/>
              <a:t>Implement cloud financial management</a:t>
            </a:r>
          </a:p>
          <a:p>
            <a:pPr lvl="1"/>
            <a:r>
              <a:rPr lang="en-IN" b="1" dirty="0"/>
              <a:t>Adopt a consumption model</a:t>
            </a:r>
          </a:p>
          <a:p>
            <a:pPr lvl="1"/>
            <a:r>
              <a:rPr lang="en-IN" b="1" dirty="0"/>
              <a:t>Measure overall efficiency</a:t>
            </a:r>
          </a:p>
          <a:p>
            <a:pPr lvl="1"/>
            <a:r>
              <a:rPr lang="en-IN" b="1" dirty="0"/>
              <a:t>Stop spending money on undifferentiated heavy lifting</a:t>
            </a:r>
          </a:p>
          <a:p>
            <a:pPr lvl="1"/>
            <a:r>
              <a:rPr lang="en-IN" b="1" dirty="0" err="1"/>
              <a:t>Analyze</a:t>
            </a:r>
            <a:r>
              <a:rPr lang="en-IN" b="1" dirty="0"/>
              <a:t> and attribute expenditure</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Cost Optimization – Key Services</a:t>
            </a:r>
          </a:p>
        </p:txBody>
      </p:sp>
      <p:sp>
        <p:nvSpPr>
          <p:cNvPr id="3" name="Content Placeholder 2"/>
          <p:cNvSpPr>
            <a:spLocks noGrp="1"/>
          </p:cNvSpPr>
          <p:nvPr>
            <p:ph idx="1"/>
          </p:nvPr>
        </p:nvSpPr>
        <p:spPr/>
        <p:txBody>
          <a:bodyPr/>
          <a:lstStyle/>
          <a:p>
            <a:endParaRPr/>
          </a:p>
          <a:p>
            <a:r>
              <a:t>AWS Cost Explorer</a:t>
            </a:r>
          </a:p>
          <a:p>
            <a:r>
              <a:t>AWS Trusted Advisor</a:t>
            </a:r>
          </a:p>
          <a:p>
            <a:r>
              <a:t>Savings Plans</a:t>
            </a:r>
          </a:p>
          <a:p>
            <a:r>
              <a:t>Reserved Instances</a:t>
            </a:r>
          </a:p>
          <a:p>
            <a:r>
              <a:t>Spot Instances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Sustainability</a:t>
            </a:r>
          </a:p>
        </p:txBody>
      </p:sp>
      <p:sp>
        <p:nvSpPr>
          <p:cNvPr id="3" name="Content Placeholder 2"/>
          <p:cNvSpPr>
            <a:spLocks noGrp="1"/>
          </p:cNvSpPr>
          <p:nvPr>
            <p:ph idx="1"/>
          </p:nvPr>
        </p:nvSpPr>
        <p:spPr/>
        <p:txBody>
          <a:bodyPr/>
          <a:lstStyle/>
          <a:p>
            <a:endParaRPr/>
          </a:p>
          <a:p>
            <a:r>
              <a:t>Minimize environmental impact</a:t>
            </a:r>
          </a:p>
          <a:p>
            <a:r>
              <a:t>Maximize resource utilization</a:t>
            </a:r>
          </a:p>
          <a:p>
            <a:r>
              <a:t>Use managed services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Putting It All Together</a:t>
            </a:r>
          </a:p>
        </p:txBody>
      </p:sp>
      <p:sp>
        <p:nvSpPr>
          <p:cNvPr id="3" name="Content Placeholder 2"/>
          <p:cNvSpPr>
            <a:spLocks noGrp="1"/>
          </p:cNvSpPr>
          <p:nvPr>
            <p:ph idx="1"/>
          </p:nvPr>
        </p:nvSpPr>
        <p:spPr/>
        <p:txBody>
          <a:bodyPr/>
          <a:lstStyle/>
          <a:p>
            <a:endParaRPr/>
          </a:p>
          <a:p>
            <a:r>
              <a:t>Cloud design is about trade-offs</a:t>
            </a:r>
          </a:p>
          <a:p>
            <a:r>
              <a:t>Continuous improvement is key</a:t>
            </a:r>
          </a:p>
          <a:p>
            <a:r>
              <a:t>Review workloads regularly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endParaRPr/>
          </a:p>
          <a:p>
            <a:r>
              <a:t>Security and reliability are essential</a:t>
            </a:r>
          </a:p>
          <a:p>
            <a:r>
              <a:t>Automation is critical</a:t>
            </a:r>
          </a:p>
          <a:p>
            <a:r>
              <a:t>Optimize cost continuously</a:t>
            </a:r>
          </a:p>
          <a:p>
            <a:r>
              <a:t>Sustainability matters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Q&amp;A</a:t>
            </a:r>
          </a:p>
        </p:txBody>
      </p:sp>
      <p:sp>
        <p:nvSpPr>
          <p:cNvPr id="3" name="Content Placeholder 2"/>
          <p:cNvSpPr>
            <a:spLocks noGrp="1"/>
          </p:cNvSpPr>
          <p:nvPr>
            <p:ph idx="1"/>
          </p:nvPr>
        </p:nvSpPr>
        <p:spPr/>
        <p:txBody>
          <a:bodyPr/>
          <a:lstStyle/>
          <a:p>
            <a:endParaRPr/>
          </a:p>
          <a:p>
            <a: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TotalTime>
  <Words>2285</Words>
  <Application>Microsoft Office PowerPoint</Application>
  <PresentationFormat>On-screen Show (4:3)</PresentationFormat>
  <Paragraphs>149</Paragraphs>
  <Slides>16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What is AWS Well-Architected Framework?</vt:lpstr>
      <vt:lpstr>The 6 Pillars</vt:lpstr>
      <vt:lpstr>Operational Excellence</vt:lpstr>
      <vt:lpstr>Operational Excellence – Key Services</vt:lpstr>
      <vt:lpstr>Security</vt:lpstr>
      <vt:lpstr>Security – Key Services</vt:lpstr>
      <vt:lpstr>Reliability</vt:lpstr>
      <vt:lpstr>Reliability – Key Services</vt:lpstr>
      <vt:lpstr>Performance Efficiency</vt:lpstr>
      <vt:lpstr>Performance – Key Services</vt:lpstr>
      <vt:lpstr>Cost Optimization</vt:lpstr>
      <vt:lpstr>Cost Optimization – Key Services</vt:lpstr>
      <vt:lpstr>Sustainability</vt:lpstr>
      <vt:lpstr>Putting It All Together</vt:lpstr>
      <vt:lpstr>Key Takeaways</vt:lpstr>
      <vt:lpstr>Q&amp;A</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SriKrishna Prakash</cp:lastModifiedBy>
  <cp:revision>10</cp:revision>
  <dcterms:created xsi:type="dcterms:W3CDTF">2013-01-27T09:14:16Z</dcterms:created>
  <dcterms:modified xsi:type="dcterms:W3CDTF">2026-02-16T16:31:35Z</dcterms:modified>
  <cp:category/>
</cp:coreProperties>
</file>